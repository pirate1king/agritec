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79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DFA445-F463-48F8-AA21-7463649C1B2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1B06F-AC25-4D92-B300-C3FBEF09DA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138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01B06F-AC25-4D92-B300-C3FBEF09DA8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075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01B06F-AC25-4D92-B300-C3FBEF09DA8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828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01B06F-AC25-4D92-B300-C3FBEF09DA8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818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1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3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190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94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642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794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830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106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20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001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0D9F0-32CA-446E-8B4C-1F9A0BCFF1E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553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60D9F0-32CA-446E-8B4C-1F9A0BCFF1E4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5D1B72-171A-409C-B04D-EEC3976F7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695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11" Type="http://schemas.openxmlformats.org/officeDocument/2006/relationships/image" Target="../media/image3.png"/><Relationship Id="rId5" Type="http://schemas.openxmlformats.org/officeDocument/2006/relationships/image" Target="../media/image5.png"/><Relationship Id="rId10" Type="http://schemas.openxmlformats.org/officeDocument/2006/relationships/image" Target="../media/image1.jp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5294" y="4574383"/>
            <a:ext cx="12058650" cy="1874545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vi-VN" sz="2200" dirty="0" smtClean="0"/>
              <a:t> </a:t>
            </a:r>
            <a:r>
              <a:rPr lang="en-US" sz="2200" b="1" dirty="0" err="1" smtClean="0">
                <a:solidFill>
                  <a:srgbClr val="FF0000"/>
                </a:solidFill>
              </a:rPr>
              <a:t>Globacid</a:t>
            </a:r>
            <a:r>
              <a:rPr lang="en-US" sz="2200" b="1" dirty="0" smtClean="0">
                <a:solidFill>
                  <a:srgbClr val="FF0000"/>
                </a:solidFill>
              </a:rPr>
              <a:t> </a:t>
            </a:r>
            <a:r>
              <a:rPr lang="en-US" sz="2200" b="1" dirty="0" err="1" smtClean="0">
                <a:solidFill>
                  <a:srgbClr val="FF0000"/>
                </a:solidFill>
              </a:rPr>
              <a:t>dw</a:t>
            </a:r>
            <a:r>
              <a:rPr lang="en-US" sz="2200" b="1" dirty="0" smtClean="0">
                <a:solidFill>
                  <a:srgbClr val="FF0000"/>
                </a:solidFill>
              </a:rPr>
              <a:t> (</a:t>
            </a:r>
            <a:r>
              <a:rPr lang="en-US" sz="2200" b="1" dirty="0" err="1" smtClean="0">
                <a:solidFill>
                  <a:srgbClr val="FF0000"/>
                </a:solidFill>
              </a:rPr>
              <a:t>Pháp</a:t>
            </a:r>
            <a:r>
              <a:rPr lang="en-US" sz="2200" b="1" dirty="0" smtClean="0">
                <a:solidFill>
                  <a:srgbClr val="FF0000"/>
                </a:solidFill>
              </a:rPr>
              <a:t>) + </a:t>
            </a:r>
            <a:r>
              <a:rPr lang="en-US" sz="2200" b="1" dirty="0" err="1" smtClean="0">
                <a:solidFill>
                  <a:srgbClr val="FF0000"/>
                </a:solidFill>
              </a:rPr>
              <a:t>Mixtron</a:t>
            </a:r>
            <a:r>
              <a:rPr lang="en-US" sz="2200" b="1" dirty="0" smtClean="0">
                <a:solidFill>
                  <a:srgbClr val="FF0000"/>
                </a:solidFill>
              </a:rPr>
              <a:t> (Ý): </a:t>
            </a:r>
            <a:r>
              <a:rPr lang="en-US" sz="2200" b="1" dirty="0" err="1">
                <a:solidFill>
                  <a:srgbClr val="00B0F0"/>
                </a:solidFill>
              </a:rPr>
              <a:t>H</a:t>
            </a:r>
            <a:r>
              <a:rPr lang="en-US" sz="2200" b="1" dirty="0" err="1" smtClean="0">
                <a:solidFill>
                  <a:srgbClr val="00B0F0"/>
                </a:solidFill>
              </a:rPr>
              <a:t>ỗn</a:t>
            </a:r>
            <a:r>
              <a:rPr lang="en-US" sz="2200" b="1" dirty="0" smtClean="0">
                <a:solidFill>
                  <a:srgbClr val="00B0F0"/>
                </a:solidFill>
              </a:rPr>
              <a:t> </a:t>
            </a:r>
            <a:r>
              <a:rPr lang="en-US" sz="2200" b="1" dirty="0" err="1" smtClean="0">
                <a:solidFill>
                  <a:srgbClr val="00B0F0"/>
                </a:solidFill>
              </a:rPr>
              <a:t>Hợp</a:t>
            </a:r>
            <a:r>
              <a:rPr lang="en-US" sz="2200" b="1" dirty="0" smtClean="0">
                <a:solidFill>
                  <a:srgbClr val="00B0F0"/>
                </a:solidFill>
              </a:rPr>
              <a:t> Acid </a:t>
            </a:r>
            <a:r>
              <a:rPr lang="en-US" sz="2200" b="1" dirty="0" err="1" smtClean="0">
                <a:solidFill>
                  <a:srgbClr val="00B0F0"/>
                </a:solidFill>
              </a:rPr>
              <a:t>hữu</a:t>
            </a:r>
            <a:r>
              <a:rPr lang="en-US" sz="2200" b="1" dirty="0" smtClean="0">
                <a:solidFill>
                  <a:srgbClr val="00B0F0"/>
                </a:solidFill>
              </a:rPr>
              <a:t> </a:t>
            </a:r>
            <a:r>
              <a:rPr lang="en-US" sz="2200" b="1" dirty="0" err="1" smtClean="0">
                <a:solidFill>
                  <a:srgbClr val="00B0F0"/>
                </a:solidFill>
              </a:rPr>
              <a:t>cơ</a:t>
            </a:r>
            <a:r>
              <a:rPr lang="en-US" sz="2200" b="1" dirty="0" smtClean="0">
                <a:solidFill>
                  <a:srgbClr val="00B0F0"/>
                </a:solidFill>
              </a:rPr>
              <a:t> acid</a:t>
            </a:r>
            <a:r>
              <a:rPr lang="vi-VN" sz="2200" b="1" dirty="0" smtClean="0">
                <a:solidFill>
                  <a:srgbClr val="00B0F0"/>
                </a:solidFill>
              </a:rPr>
              <a:t> hoá nước uống</a:t>
            </a:r>
            <a:r>
              <a:rPr lang="en-US" sz="2200" b="1" dirty="0" smtClean="0">
                <a:solidFill>
                  <a:srgbClr val="00B0F0"/>
                </a:solidFill>
              </a:rPr>
              <a:t> </a:t>
            </a:r>
            <a:r>
              <a:rPr lang="en-US" sz="2200" b="1" dirty="0" err="1" smtClean="0">
                <a:solidFill>
                  <a:srgbClr val="00B0F0"/>
                </a:solidFill>
              </a:rPr>
              <a:t>về</a:t>
            </a:r>
            <a:r>
              <a:rPr lang="vi-VN" sz="2200" b="1" dirty="0" smtClean="0">
                <a:solidFill>
                  <a:srgbClr val="00B0F0"/>
                </a:solidFill>
              </a:rPr>
              <a:t> pH 3.5-4.5</a:t>
            </a:r>
            <a:r>
              <a:rPr lang="en-US" sz="2200" b="1" dirty="0" smtClean="0">
                <a:solidFill>
                  <a:srgbClr val="00B0F0"/>
                </a:solidFill>
              </a:rPr>
              <a:t> </a:t>
            </a:r>
            <a:r>
              <a:rPr lang="en-US" sz="2200" b="1" dirty="0" err="1" smtClean="0">
                <a:solidFill>
                  <a:srgbClr val="00B0F0"/>
                </a:solidFill>
              </a:rPr>
              <a:t>liều</a:t>
            </a:r>
            <a:r>
              <a:rPr lang="en-US" sz="2200" b="1" dirty="0" smtClean="0">
                <a:solidFill>
                  <a:srgbClr val="00B0F0"/>
                </a:solidFill>
              </a:rPr>
              <a:t> </a:t>
            </a:r>
            <a:r>
              <a:rPr lang="en-US" sz="2200" b="1" dirty="0" err="1" smtClean="0">
                <a:solidFill>
                  <a:srgbClr val="00B0F0"/>
                </a:solidFill>
              </a:rPr>
              <a:t>từ</a:t>
            </a:r>
            <a:r>
              <a:rPr lang="en-US" sz="2200" b="1" dirty="0" smtClean="0">
                <a:solidFill>
                  <a:srgbClr val="00B0F0"/>
                </a:solidFill>
              </a:rPr>
              <a:t> 0.4l/1000lit  </a:t>
            </a: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err="1" smtClean="0"/>
              <a:t>Giải</a:t>
            </a:r>
            <a:r>
              <a:rPr lang="en-US" sz="2200" dirty="0" smtClean="0"/>
              <a:t> </a:t>
            </a:r>
            <a:r>
              <a:rPr lang="en-US" sz="2200" dirty="0" err="1" smtClean="0"/>
              <a:t>pháp</a:t>
            </a:r>
            <a:r>
              <a:rPr lang="en-US" sz="2200" dirty="0" smtClean="0"/>
              <a:t> an </a:t>
            </a:r>
            <a:r>
              <a:rPr lang="en-US" sz="2200" dirty="0" err="1" smtClean="0"/>
              <a:t>toàn</a:t>
            </a:r>
            <a:r>
              <a:rPr lang="en-US" sz="2200" dirty="0" smtClean="0"/>
              <a:t> </a:t>
            </a:r>
            <a:r>
              <a:rPr lang="en-US" sz="2200" dirty="0" err="1" smtClean="0"/>
              <a:t>bền</a:t>
            </a:r>
            <a:r>
              <a:rPr lang="en-US" sz="2200" dirty="0" smtClean="0"/>
              <a:t> </a:t>
            </a:r>
            <a:r>
              <a:rPr lang="en-US" sz="2200" dirty="0" err="1" smtClean="0"/>
              <a:t>vững</a:t>
            </a:r>
            <a:r>
              <a:rPr lang="en-US" sz="2200" dirty="0" smtClean="0"/>
              <a:t> </a:t>
            </a:r>
            <a:r>
              <a:rPr lang="en-US" sz="2200" dirty="0" err="1" smtClean="0"/>
              <a:t>để</a:t>
            </a:r>
            <a:r>
              <a:rPr lang="en-US" sz="2200" dirty="0" smtClean="0"/>
              <a:t> </a:t>
            </a:r>
            <a:r>
              <a:rPr lang="en-US" sz="2200" dirty="0" err="1" smtClean="0"/>
              <a:t>xử</a:t>
            </a:r>
            <a:r>
              <a:rPr lang="en-US" sz="2200" dirty="0" smtClean="0"/>
              <a:t> </a:t>
            </a:r>
            <a:r>
              <a:rPr lang="en-US" sz="2200" dirty="0" err="1" smtClean="0"/>
              <a:t>lý</a:t>
            </a:r>
            <a:r>
              <a:rPr lang="en-US" sz="2200" dirty="0" smtClean="0"/>
              <a:t> </a:t>
            </a:r>
            <a:r>
              <a:rPr lang="en-US" sz="2200" dirty="0" err="1" smtClean="0"/>
              <a:t>nước</a:t>
            </a:r>
            <a:r>
              <a:rPr lang="en-US" sz="2200" dirty="0" smtClean="0"/>
              <a:t> </a:t>
            </a:r>
            <a:r>
              <a:rPr lang="en-US" sz="2200" dirty="0" err="1" smtClean="0"/>
              <a:t>uống</a:t>
            </a:r>
            <a:r>
              <a:rPr lang="en-US" sz="2200" dirty="0" smtClean="0"/>
              <a:t> </a:t>
            </a:r>
            <a:r>
              <a:rPr lang="en-US" sz="2200" dirty="0" err="1" smtClean="0"/>
              <a:t>chăn</a:t>
            </a:r>
            <a:r>
              <a:rPr lang="en-US" sz="2200" dirty="0" smtClean="0"/>
              <a:t> </a:t>
            </a:r>
            <a:r>
              <a:rPr lang="en-US" sz="2200" dirty="0" err="1" smtClean="0"/>
              <a:t>nuôi</a:t>
            </a:r>
            <a:r>
              <a:rPr lang="en-US" sz="2200" dirty="0" smtClean="0"/>
              <a:t> </a:t>
            </a:r>
            <a:r>
              <a:rPr lang="en-US" sz="2200" dirty="0" err="1" smtClean="0"/>
              <a:t>cho</a:t>
            </a:r>
            <a:r>
              <a:rPr lang="en-US" sz="2200" dirty="0" smtClean="0"/>
              <a:t> </a:t>
            </a:r>
            <a:r>
              <a:rPr lang="en-US" sz="2200" dirty="0" err="1" smtClean="0"/>
              <a:t>môi</a:t>
            </a:r>
            <a:r>
              <a:rPr lang="en-US" sz="2200" dirty="0" smtClean="0"/>
              <a:t> </a:t>
            </a:r>
            <a:r>
              <a:rPr lang="en-US" sz="2200" dirty="0" err="1" smtClean="0"/>
              <a:t>trường</a:t>
            </a:r>
            <a:r>
              <a:rPr lang="en-US" sz="2200" dirty="0" smtClean="0"/>
              <a:t> </a:t>
            </a:r>
            <a:r>
              <a:rPr lang="en-US" sz="2200" dirty="0" err="1" smtClean="0"/>
              <a:t>nước</a:t>
            </a:r>
            <a:r>
              <a:rPr lang="en-US" sz="2200" dirty="0" smtClean="0"/>
              <a:t> </a:t>
            </a:r>
            <a:r>
              <a:rPr lang="en-US" sz="2200" dirty="0" err="1" smtClean="0"/>
              <a:t>cứng</a:t>
            </a:r>
            <a:r>
              <a:rPr lang="en-US" sz="2200" dirty="0" smtClean="0"/>
              <a:t>, </a:t>
            </a:r>
            <a:r>
              <a:rPr lang="en-US" sz="2200" dirty="0" err="1" smtClean="0"/>
              <a:t>phèn</a:t>
            </a:r>
            <a:r>
              <a:rPr lang="en-US" sz="2200" dirty="0" smtClean="0"/>
              <a:t>, </a:t>
            </a:r>
            <a:r>
              <a:rPr lang="en-US" sz="2200" dirty="0" err="1" smtClean="0"/>
              <a:t>nhiễm</a:t>
            </a:r>
            <a:r>
              <a:rPr lang="en-US" sz="2200" dirty="0" smtClean="0"/>
              <a:t> </a:t>
            </a:r>
            <a:r>
              <a:rPr lang="en-US" sz="2200" dirty="0" err="1" smtClean="0"/>
              <a:t>bẩn</a:t>
            </a:r>
            <a:r>
              <a:rPr lang="en-US" sz="2200" dirty="0" smtClean="0"/>
              <a:t>: </a:t>
            </a:r>
            <a:r>
              <a:rPr lang="vi-VN" sz="2200" dirty="0" smtClean="0"/>
              <a:t> </a:t>
            </a: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smtClean="0"/>
              <a:t>+ </a:t>
            </a:r>
            <a:r>
              <a:rPr lang="vi-VN" sz="2200" b="1" dirty="0" smtClean="0">
                <a:solidFill>
                  <a:srgbClr val="00B050"/>
                </a:solidFill>
              </a:rPr>
              <a:t>Sát trùng</a:t>
            </a:r>
            <a:r>
              <a:rPr lang="en-US" sz="2200" b="1" dirty="0">
                <a:solidFill>
                  <a:srgbClr val="00B050"/>
                </a:solidFill>
              </a:rPr>
              <a:t> </a:t>
            </a:r>
            <a:r>
              <a:rPr lang="en-US" sz="2200" b="1" dirty="0" err="1" smtClean="0">
                <a:solidFill>
                  <a:srgbClr val="00B050"/>
                </a:solidFill>
              </a:rPr>
              <a:t>nước</a:t>
            </a:r>
            <a:r>
              <a:rPr lang="en-US" sz="2200" b="1" dirty="0" smtClean="0">
                <a:solidFill>
                  <a:srgbClr val="00B050"/>
                </a:solidFill>
              </a:rPr>
              <a:t> </a:t>
            </a:r>
            <a:r>
              <a:rPr lang="en-US" sz="2200" b="1" dirty="0" err="1" smtClean="0">
                <a:solidFill>
                  <a:srgbClr val="00B050"/>
                </a:solidFill>
              </a:rPr>
              <a:t>và</a:t>
            </a:r>
            <a:r>
              <a:rPr lang="en-US" sz="2200" b="1" dirty="0" smtClean="0">
                <a:solidFill>
                  <a:srgbClr val="00B050"/>
                </a:solidFill>
              </a:rPr>
              <a:t> </a:t>
            </a:r>
            <a:r>
              <a:rPr lang="vi-VN" sz="2200" b="1" dirty="0" smtClean="0">
                <a:solidFill>
                  <a:srgbClr val="00B050"/>
                </a:solidFill>
              </a:rPr>
              <a:t>đường nước</a:t>
            </a:r>
            <a:r>
              <a:rPr lang="en-US" sz="2200" dirty="0" smtClean="0"/>
              <a:t> </a:t>
            </a:r>
            <a:r>
              <a:rPr lang="en-US" sz="2200" dirty="0" err="1" smtClean="0"/>
              <a:t>uống</a:t>
            </a:r>
            <a:r>
              <a:rPr lang="vi-VN" sz="2200" dirty="0" smtClean="0"/>
              <a:t>, </a:t>
            </a:r>
            <a:r>
              <a:rPr lang="vi-VN" sz="2200" dirty="0"/>
              <a:t>khắc chế vi khuẩn, </a:t>
            </a:r>
            <a:r>
              <a:rPr lang="vi-VN" sz="2200" dirty="0" smtClean="0"/>
              <a:t>virus</a:t>
            </a:r>
            <a:r>
              <a:rPr lang="en-US" sz="2200" dirty="0" smtClean="0"/>
              <a:t> </a:t>
            </a:r>
            <a:r>
              <a:rPr lang="en-US" sz="2200" dirty="0" err="1" smtClean="0"/>
              <a:t>gây</a:t>
            </a:r>
            <a:r>
              <a:rPr lang="en-US" sz="2200" dirty="0" smtClean="0"/>
              <a:t> </a:t>
            </a:r>
            <a:r>
              <a:rPr lang="en-US" sz="2200" dirty="0" err="1" smtClean="0"/>
              <a:t>bệnh</a:t>
            </a:r>
            <a:r>
              <a:rPr lang="en-US" sz="2200" dirty="0" smtClean="0"/>
              <a:t> </a:t>
            </a:r>
            <a:r>
              <a:rPr lang="en-US" sz="2200" dirty="0" err="1" smtClean="0"/>
              <a:t>không</a:t>
            </a:r>
            <a:r>
              <a:rPr lang="en-US" sz="2200" dirty="0" smtClean="0"/>
              <a:t> </a:t>
            </a:r>
            <a:r>
              <a:rPr lang="en-US" sz="2200" dirty="0" err="1" smtClean="0"/>
              <a:t>đặc</a:t>
            </a:r>
            <a:r>
              <a:rPr lang="en-US" sz="2200" dirty="0" smtClean="0"/>
              <a:t> </a:t>
            </a:r>
            <a:r>
              <a:rPr lang="en-US" sz="2200" dirty="0" err="1" smtClean="0"/>
              <a:t>hiệu</a:t>
            </a: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smtClean="0"/>
              <a:t>+ </a:t>
            </a:r>
            <a:r>
              <a:rPr lang="en-US" sz="2200" b="1" dirty="0" smtClean="0">
                <a:solidFill>
                  <a:srgbClr val="00B050"/>
                </a:solidFill>
              </a:rPr>
              <a:t>H</a:t>
            </a:r>
            <a:r>
              <a:rPr lang="vi-VN" sz="2200" b="1" dirty="0" smtClean="0">
                <a:solidFill>
                  <a:srgbClr val="00B050"/>
                </a:solidFill>
              </a:rPr>
              <a:t>ỗ </a:t>
            </a:r>
            <a:r>
              <a:rPr lang="vi-VN" sz="2200" b="1" dirty="0">
                <a:solidFill>
                  <a:srgbClr val="00B050"/>
                </a:solidFill>
              </a:rPr>
              <a:t>trợ tăng </a:t>
            </a:r>
            <a:r>
              <a:rPr lang="vi-VN" sz="2200" b="1" dirty="0" smtClean="0">
                <a:solidFill>
                  <a:srgbClr val="00B050"/>
                </a:solidFill>
              </a:rPr>
              <a:t>trọng</a:t>
            </a:r>
            <a:r>
              <a:rPr lang="en-US" sz="2200" b="1" dirty="0" smtClean="0">
                <a:solidFill>
                  <a:srgbClr val="00B050"/>
                </a:solidFill>
              </a:rPr>
              <a:t>: </a:t>
            </a:r>
            <a:r>
              <a:rPr lang="en-US" sz="2200" dirty="0" err="1" smtClean="0">
                <a:solidFill>
                  <a:schemeClr val="tx1"/>
                </a:solidFill>
              </a:rPr>
              <a:t>Cân</a:t>
            </a:r>
            <a:r>
              <a:rPr lang="en-US" sz="2200" dirty="0" smtClean="0">
                <a:solidFill>
                  <a:schemeClr val="tx1"/>
                </a:solidFill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</a:rPr>
              <a:t>bằng</a:t>
            </a:r>
            <a:r>
              <a:rPr lang="en-US" sz="2200" dirty="0" smtClean="0">
                <a:solidFill>
                  <a:schemeClr val="tx1"/>
                </a:solidFill>
              </a:rPr>
              <a:t> </a:t>
            </a:r>
            <a:r>
              <a:rPr lang="en-US" sz="2200" dirty="0" err="1" smtClean="0">
                <a:solidFill>
                  <a:schemeClr val="tx1"/>
                </a:solidFill>
              </a:rPr>
              <a:t>hệ</a:t>
            </a:r>
            <a:r>
              <a:rPr lang="en-US" sz="2200" dirty="0" smtClean="0">
                <a:solidFill>
                  <a:schemeClr val="tx1"/>
                </a:solidFill>
              </a:rPr>
              <a:t> vi </a:t>
            </a:r>
            <a:r>
              <a:rPr lang="en-US" sz="2200" dirty="0" err="1" smtClean="0">
                <a:solidFill>
                  <a:schemeClr val="tx1"/>
                </a:solidFill>
              </a:rPr>
              <a:t>sinh</a:t>
            </a:r>
            <a:r>
              <a:rPr lang="en-US" sz="2200" dirty="0" smtClean="0">
                <a:solidFill>
                  <a:schemeClr val="tx1"/>
                </a:solidFill>
              </a:rPr>
              <a:t>, c</a:t>
            </a:r>
            <a:r>
              <a:rPr lang="vi-VN" sz="2200" dirty="0" smtClean="0">
                <a:solidFill>
                  <a:schemeClr val="tx1"/>
                </a:solidFill>
              </a:rPr>
              <a:t>ải thiệ</a:t>
            </a:r>
            <a:r>
              <a:rPr lang="en-US" sz="2200" dirty="0" smtClean="0">
                <a:solidFill>
                  <a:schemeClr val="tx1"/>
                </a:solidFill>
              </a:rPr>
              <a:t>n</a:t>
            </a:r>
            <a:r>
              <a:rPr lang="vi-VN" sz="2200" dirty="0" smtClean="0">
                <a:solidFill>
                  <a:schemeClr val="tx1"/>
                </a:solidFill>
              </a:rPr>
              <a:t> </a:t>
            </a:r>
            <a:r>
              <a:rPr lang="vi-VN" sz="2200" dirty="0">
                <a:solidFill>
                  <a:schemeClr val="tx1"/>
                </a:solidFill>
              </a:rPr>
              <a:t>tiêu hoá hấp </a:t>
            </a:r>
            <a:r>
              <a:rPr lang="vi-VN" sz="2200" dirty="0" smtClean="0">
                <a:solidFill>
                  <a:schemeClr val="tx1"/>
                </a:solidFill>
              </a:rPr>
              <a:t>thu</a:t>
            </a:r>
            <a:r>
              <a:rPr lang="en-US" sz="2200" dirty="0" smtClean="0"/>
              <a:t/>
            </a:r>
            <a:br>
              <a:rPr lang="en-US" sz="2200" dirty="0" smtClean="0"/>
            </a:br>
            <a:r>
              <a:rPr lang="en-US" sz="2200" dirty="0" smtClean="0"/>
              <a:t>+ </a:t>
            </a:r>
            <a:r>
              <a:rPr lang="en-US" sz="2200" b="1" dirty="0" err="1" smtClean="0">
                <a:solidFill>
                  <a:srgbClr val="00B050"/>
                </a:solidFill>
              </a:rPr>
              <a:t>Giảm</a:t>
            </a:r>
            <a:r>
              <a:rPr lang="en-US" sz="2200" b="1" dirty="0" smtClean="0">
                <a:solidFill>
                  <a:srgbClr val="00B050"/>
                </a:solidFill>
              </a:rPr>
              <a:t> </a:t>
            </a:r>
            <a:r>
              <a:rPr lang="en-US" sz="2200" b="1" dirty="0" err="1" smtClean="0">
                <a:solidFill>
                  <a:srgbClr val="00B050"/>
                </a:solidFill>
              </a:rPr>
              <a:t>mùi</a:t>
            </a:r>
            <a:r>
              <a:rPr lang="en-US" sz="2200" b="1" dirty="0" smtClean="0">
                <a:solidFill>
                  <a:srgbClr val="00B050"/>
                </a:solidFill>
              </a:rPr>
              <a:t> </a:t>
            </a:r>
            <a:r>
              <a:rPr lang="en-US" sz="2200" b="1" dirty="0" err="1" smtClean="0">
                <a:solidFill>
                  <a:srgbClr val="00B050"/>
                </a:solidFill>
              </a:rPr>
              <a:t>hôi</a:t>
            </a:r>
            <a:r>
              <a:rPr lang="en-US" sz="2200" dirty="0" smtClean="0"/>
              <a:t> </a:t>
            </a:r>
            <a:r>
              <a:rPr lang="en-US" sz="2200" dirty="0" err="1" smtClean="0"/>
              <a:t>trang</a:t>
            </a:r>
            <a:r>
              <a:rPr lang="en-US" sz="2200" dirty="0" smtClean="0"/>
              <a:t> </a:t>
            </a:r>
            <a:r>
              <a:rPr lang="en-US" sz="2200" dirty="0" err="1" smtClean="0"/>
              <a:t>trại</a:t>
            </a:r>
            <a:r>
              <a:rPr lang="en-US" sz="2200" dirty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0898" y="109536"/>
            <a:ext cx="4410077" cy="441007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t="912" b="1"/>
          <a:stretch/>
        </p:blipFill>
        <p:spPr>
          <a:xfrm>
            <a:off x="6938962" y="42863"/>
            <a:ext cx="2495176" cy="4457700"/>
          </a:xfrm>
          <a:prstGeom prst="rect">
            <a:avLst/>
          </a:prstGeom>
        </p:spPr>
      </p:pic>
      <p:sp>
        <p:nvSpPr>
          <p:cNvPr id="5" name="Plus 4"/>
          <p:cNvSpPr/>
          <p:nvPr/>
        </p:nvSpPr>
        <p:spPr>
          <a:xfrm>
            <a:off x="5786438" y="1728788"/>
            <a:ext cx="700087" cy="571500"/>
          </a:xfrm>
          <a:prstGeom prst="mathPlus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5" y="88768"/>
            <a:ext cx="1857143" cy="980952"/>
          </a:xfrm>
          <a:prstGeom prst="rect">
            <a:avLst/>
          </a:prstGeom>
        </p:spPr>
      </p:pic>
      <p:sp>
        <p:nvSpPr>
          <p:cNvPr id="9" name="Title 3"/>
          <p:cNvSpPr txBox="1">
            <a:spLocks/>
          </p:cNvSpPr>
          <p:nvPr/>
        </p:nvSpPr>
        <p:spPr>
          <a:xfrm>
            <a:off x="6196348" y="6467978"/>
            <a:ext cx="5995652" cy="39002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i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400" b="1" i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 TNHH </a:t>
            </a:r>
            <a:r>
              <a:rPr lang="en-US" sz="1400" b="1" i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Thương</a:t>
            </a:r>
            <a:r>
              <a:rPr lang="en-US" sz="1400" b="1" i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i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Mại</a:t>
            </a:r>
            <a:r>
              <a:rPr lang="en-US" sz="1400" b="1" i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i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1400" b="1" i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i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lang="en-US" sz="1400" b="1" i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i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Agritec</a:t>
            </a:r>
            <a:r>
              <a:rPr lang="en-US" sz="1400" b="1" i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400" b="1" i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1400" b="1" i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i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1400" b="1" i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0977791412</a:t>
            </a:r>
            <a:endParaRPr lang="en-US" sz="1400" i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856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3"/>
          <p:cNvSpPr txBox="1">
            <a:spLocks/>
          </p:cNvSpPr>
          <p:nvPr/>
        </p:nvSpPr>
        <p:spPr>
          <a:xfrm>
            <a:off x="6196348" y="6467978"/>
            <a:ext cx="5995652" cy="39002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i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400" b="1" i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 TNHH </a:t>
            </a:r>
            <a:r>
              <a:rPr lang="en-US" sz="1400" b="1" i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Thương</a:t>
            </a:r>
            <a:r>
              <a:rPr lang="en-US" sz="1400" b="1" i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i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Mại</a:t>
            </a:r>
            <a:r>
              <a:rPr lang="en-US" sz="1400" b="1" i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i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1400" b="1" i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i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lang="en-US" sz="1400" b="1" i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i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Agritec</a:t>
            </a:r>
            <a:r>
              <a:rPr lang="en-US" sz="1400" b="1" i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400" b="1" i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1400" b="1" i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i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1400" b="1" i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0977791412</a:t>
            </a:r>
            <a:endParaRPr lang="en-US" sz="1400" i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35730" y="4386517"/>
            <a:ext cx="12001502" cy="208146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vi-V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Butirex</a:t>
            </a:r>
            <a:r>
              <a:rPr lang="en-US" sz="18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800" b="1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Tây</a:t>
            </a:r>
            <a:r>
              <a:rPr lang="en-US" sz="18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Ban </a:t>
            </a:r>
            <a:r>
              <a:rPr lang="en-US" sz="1800" b="1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Nha</a:t>
            </a:r>
            <a:r>
              <a:rPr lang="en-US" sz="18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+ </a:t>
            </a:r>
            <a:r>
              <a:rPr lang="en-US" sz="1800" b="1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Mixtron</a:t>
            </a:r>
            <a:r>
              <a:rPr lang="en-US" sz="18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(Ý):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cung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Butiric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hoàn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toàn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mùi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350-500g/1000 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lit, 0.5-1kg/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tấn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ăn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8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8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hằng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ngày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tất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cả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môi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nước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cứng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phèn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biệt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nơi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nước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pH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thấp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biệt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nên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ngày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trước </a:t>
            </a:r>
            <a:r>
              <a:rPr lang="vi-VN" sz="1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 trong</a:t>
            </a:r>
            <a:r>
              <a:rPr lang="vi-VN" sz="1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1800" dirty="0">
                <a:latin typeface="Arial" panose="020B0604020202020204" pitchFamily="34" charset="0"/>
                <a:cs typeface="Arial" panose="020B0604020202020204" pitchFamily="34" charset="0"/>
              </a:rPr>
              <a:t>khi điều trị bằng kháng sinh, làm </a:t>
            </a:r>
            <a:r>
              <a:rPr lang="vi-V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vaccine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vi-V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18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vi-VN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vi-VN" sz="1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Kích thích tăng </a:t>
            </a:r>
            <a:r>
              <a:rPr lang="vi-VN" sz="1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trưởng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đồng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đều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đàn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vật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nuôi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US" sz="1800" b="1" dirty="0" err="1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en-US" sz="1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en-US" sz="1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</a:t>
            </a:r>
            <a:r>
              <a:rPr lang="vi-VN" sz="1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ác </a:t>
            </a:r>
            <a:r>
              <a:rPr lang="vi-VN" sz="1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vấn đề về đường ru</a:t>
            </a:r>
            <a:r>
              <a:rPr lang="vi-VN" sz="1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ột </a:t>
            </a:r>
            <a:r>
              <a:rPr lang="vi-VN" sz="1800" dirty="0">
                <a:latin typeface="Arial" panose="020B0604020202020204" pitchFamily="34" charset="0"/>
                <a:cs typeface="Arial" panose="020B0604020202020204" pitchFamily="34" charset="0"/>
              </a:rPr>
              <a:t>(tiêu chảy phân lỏng, phân không </a:t>
            </a:r>
            <a:r>
              <a:rPr lang="vi-V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khuôn...)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biệt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khắc </a:t>
            </a:r>
            <a:r>
              <a:rPr lang="vi-VN" sz="1800" dirty="0">
                <a:latin typeface="Arial" panose="020B0604020202020204" pitchFamily="34" charset="0"/>
                <a:cs typeface="Arial" panose="020B0604020202020204" pitchFamily="34" charset="0"/>
              </a:rPr>
              <a:t>chế vi </a:t>
            </a:r>
            <a:r>
              <a:rPr lang="vi-V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khuẩn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Clostridium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Perfringens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US" sz="1800" b="1" dirty="0" err="1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sz="1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miễn</a:t>
            </a:r>
            <a:r>
              <a:rPr lang="en-US" sz="1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1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đường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ruột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dirty="0" err="1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giảm</a:t>
            </a:r>
            <a:r>
              <a:rPr lang="en-US" sz="1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mùi</a:t>
            </a:r>
            <a:r>
              <a:rPr lang="en-US" sz="1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hôi</a:t>
            </a:r>
            <a:r>
              <a:rPr lang="en-US" sz="1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trại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912" b="1"/>
          <a:stretch/>
        </p:blipFill>
        <p:spPr>
          <a:xfrm>
            <a:off x="6938962" y="42863"/>
            <a:ext cx="2495176" cy="4224337"/>
          </a:xfrm>
          <a:prstGeom prst="rect">
            <a:avLst/>
          </a:prstGeom>
        </p:spPr>
      </p:pic>
      <p:sp>
        <p:nvSpPr>
          <p:cNvPr id="5" name="Plus 4"/>
          <p:cNvSpPr/>
          <p:nvPr/>
        </p:nvSpPr>
        <p:spPr>
          <a:xfrm>
            <a:off x="5786438" y="1728788"/>
            <a:ext cx="700087" cy="571500"/>
          </a:xfrm>
          <a:prstGeom prst="mathPlus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2333335" y="870857"/>
            <a:ext cx="2934721" cy="3159353"/>
            <a:chOff x="602457" y="-404811"/>
            <a:chExt cx="4552950" cy="497205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2457" y="-404811"/>
              <a:ext cx="4552950" cy="497205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25998" y="2956319"/>
              <a:ext cx="1115602" cy="1341489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79998" y="441324"/>
              <a:ext cx="2749140" cy="1189423"/>
            </a:xfrm>
            <a:prstGeom prst="rect">
              <a:avLst/>
            </a:prstGeom>
          </p:spPr>
        </p:pic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5" y="88768"/>
            <a:ext cx="1857143" cy="9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486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5568" y="2361775"/>
            <a:ext cx="1838325" cy="952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0498" y="4490186"/>
            <a:ext cx="11899902" cy="195781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vi-V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Kingbrown</a:t>
            </a:r>
            <a:r>
              <a:rPr lang="en-US" sz="18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1800" b="1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lang="en-US" sz="18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+ </a:t>
            </a:r>
            <a:r>
              <a:rPr lang="en-US" sz="1800" b="1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Mixtron</a:t>
            </a:r>
            <a:r>
              <a:rPr lang="en-US" sz="18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(Ý):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tannin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thuỷ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hoàn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toàn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vi-VN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hông </a:t>
            </a:r>
            <a:r>
              <a:rPr lang="vi-VN" sz="1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kháng dinh dưỡng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tất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cả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chảy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hiệu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0.2-0.5kg/1000lit, 0.5-1kg/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tấn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sz="18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ăn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US" sz="1800" b="1" dirty="0" err="1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sz="1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soát</a:t>
            </a:r>
            <a:r>
              <a:rPr lang="en-US" sz="1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1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chảy</a:t>
            </a:r>
            <a:r>
              <a:rPr lang="en-US" sz="1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1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sz="1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hiệu</a:t>
            </a:r>
            <a:r>
              <a:rPr lang="en-US" sz="1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sz="1800" b="1" dirty="0" err="1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tất</a:t>
            </a:r>
            <a:r>
              <a:rPr lang="en-US" sz="1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cả</a:t>
            </a:r>
            <a:r>
              <a:rPr lang="en-US" sz="1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</a:t>
            </a:r>
            <a:r>
              <a:rPr lang="en-US" sz="1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1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Vi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khuẩn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, virus,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độc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tố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nấm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mốc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rong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tảo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bị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oxi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, do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nước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bẩn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phèn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cứng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…,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ký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sinh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trùng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biệt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trùng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chảy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do stress</a:t>
            </a:r>
            <a:r>
              <a:rPr lang="vi-VN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18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vi-VN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US" sz="1800" b="1" dirty="0" err="1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Chống</a:t>
            </a:r>
            <a:r>
              <a:rPr lang="en-US" sz="1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viêm</a:t>
            </a:r>
            <a:r>
              <a:rPr lang="en-US" sz="1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nhiễm</a:t>
            </a:r>
            <a:r>
              <a:rPr lang="en-US" sz="1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stress </a:t>
            </a:r>
            <a:r>
              <a:rPr lang="en-US" sz="1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nhiệt</a:t>
            </a:r>
            <a:r>
              <a:rPr lang="en-US" sz="1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cân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vi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sinh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đường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ruột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Ellagitannin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Urolithin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Chống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oxi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hoá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bào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&gt;1.8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lần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VTM C</a:t>
            </a:r>
            <a:b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1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1800" b="1" dirty="0" err="1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ạn</a:t>
            </a:r>
            <a:r>
              <a:rPr lang="en-US" sz="18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chế</a:t>
            </a:r>
            <a:r>
              <a:rPr lang="en-US" sz="1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ẩm</a:t>
            </a:r>
            <a:r>
              <a:rPr lang="en-US" sz="1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chuồng</a:t>
            </a:r>
            <a:r>
              <a:rPr lang="en-US" sz="1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bệnh</a:t>
            </a:r>
            <a:r>
              <a:rPr lang="en-US" sz="1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sâu</a:t>
            </a:r>
            <a:r>
              <a:rPr lang="en-US" sz="1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chân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vật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nuôi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giảm</a:t>
            </a:r>
            <a:r>
              <a:rPr lang="en-US" sz="1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mùi</a:t>
            </a:r>
            <a:r>
              <a:rPr lang="en-US" sz="1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hôi</a:t>
            </a:r>
            <a:r>
              <a:rPr lang="en-US" sz="18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trại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t="912" b="1"/>
          <a:stretch/>
        </p:blipFill>
        <p:spPr>
          <a:xfrm>
            <a:off x="7008748" y="42863"/>
            <a:ext cx="2425389" cy="4333023"/>
          </a:xfrm>
          <a:prstGeom prst="rect">
            <a:avLst/>
          </a:prstGeom>
        </p:spPr>
      </p:pic>
      <p:sp>
        <p:nvSpPr>
          <p:cNvPr id="5" name="Plus 4"/>
          <p:cNvSpPr/>
          <p:nvPr/>
        </p:nvSpPr>
        <p:spPr>
          <a:xfrm>
            <a:off x="5786438" y="1728788"/>
            <a:ext cx="700087" cy="571500"/>
          </a:xfrm>
          <a:prstGeom prst="mathPlus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818781" y="42863"/>
            <a:ext cx="3124693" cy="4086225"/>
            <a:chOff x="536478" y="241935"/>
            <a:chExt cx="3509231" cy="4398380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" t="3992" r="-2340" b="7796"/>
            <a:stretch/>
          </p:blipFill>
          <p:spPr>
            <a:xfrm>
              <a:off x="536478" y="241935"/>
              <a:ext cx="3509231" cy="4398380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65961" y="549681"/>
              <a:ext cx="1731090" cy="896938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5287" y="3780245"/>
              <a:ext cx="947806" cy="709614"/>
            </a:xfrm>
            <a:prstGeom prst="rect">
              <a:avLst/>
            </a:prstGeom>
          </p:spPr>
        </p:pic>
      </p:grpSp>
      <p:pic>
        <p:nvPicPr>
          <p:cNvPr id="11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5" y="88768"/>
            <a:ext cx="1857143" cy="980952"/>
          </a:xfrm>
          <a:prstGeom prst="rect">
            <a:avLst/>
          </a:prstGeom>
        </p:spPr>
      </p:pic>
      <p:sp>
        <p:nvSpPr>
          <p:cNvPr id="16" name="Title 3"/>
          <p:cNvSpPr txBox="1">
            <a:spLocks/>
          </p:cNvSpPr>
          <p:nvPr/>
        </p:nvSpPr>
        <p:spPr>
          <a:xfrm>
            <a:off x="6196348" y="6467978"/>
            <a:ext cx="5995652" cy="39002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i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400" b="1" i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 TNHH </a:t>
            </a:r>
            <a:r>
              <a:rPr lang="en-US" sz="1400" b="1" i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Thương</a:t>
            </a:r>
            <a:r>
              <a:rPr lang="en-US" sz="1400" b="1" i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i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Mại</a:t>
            </a:r>
            <a:r>
              <a:rPr lang="en-US" sz="1400" b="1" i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i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1400" b="1" i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i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lang="en-US" sz="1400" b="1" i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i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Agritec</a:t>
            </a:r>
            <a:r>
              <a:rPr lang="en-US" sz="1400" b="1" i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400" b="1" i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1400" b="1" i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i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1400" b="1" i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0977791412</a:t>
            </a:r>
            <a:endParaRPr lang="en-US" sz="1400" i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830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80018" y="5482326"/>
            <a:ext cx="11621458" cy="85725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2000" b="1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lang="en-US" sz="20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lang="en-US" sz="20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0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iểm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soát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chảy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hiệu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US" sz="20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suất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đàn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vật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nuôi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0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000" b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0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bồn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nước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máy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</a:t>
            </a:r>
            <a:r>
              <a:rPr lang="en-U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Mixtron</a:t>
            </a:r>
            <a:r>
              <a:rPr lang="en-US" sz="2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1-5%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t="912" b="1"/>
          <a:stretch/>
        </p:blipFill>
        <p:spPr>
          <a:xfrm>
            <a:off x="9468224" y="428625"/>
            <a:ext cx="2495176" cy="4457700"/>
          </a:xfrm>
          <a:prstGeom prst="rect">
            <a:avLst/>
          </a:prstGeom>
        </p:spPr>
      </p:pic>
      <p:sp>
        <p:nvSpPr>
          <p:cNvPr id="5" name="Plus 4"/>
          <p:cNvSpPr/>
          <p:nvPr/>
        </p:nvSpPr>
        <p:spPr>
          <a:xfrm>
            <a:off x="8996737" y="1827523"/>
            <a:ext cx="700087" cy="571500"/>
          </a:xfrm>
          <a:prstGeom prst="mathPlus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406081" y="269618"/>
            <a:ext cx="3493292" cy="4775714"/>
            <a:chOff x="-60617" y="257175"/>
            <a:chExt cx="3493292" cy="4775714"/>
          </a:xfrm>
        </p:grpSpPr>
        <p:grpSp>
          <p:nvGrpSpPr>
            <p:cNvPr id="11" name="Group 10"/>
            <p:cNvGrpSpPr/>
            <p:nvPr/>
          </p:nvGrpSpPr>
          <p:grpSpPr>
            <a:xfrm>
              <a:off x="-60617" y="257175"/>
              <a:ext cx="3493292" cy="4271963"/>
              <a:chOff x="602457" y="-404811"/>
              <a:chExt cx="4552950" cy="4972050"/>
            </a:xfrm>
          </p:grpSpPr>
          <p:pic>
            <p:nvPicPr>
              <p:cNvPr id="16" name="Picture 15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2457" y="-404811"/>
                <a:ext cx="4552950" cy="4972050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25998" y="2956319"/>
                <a:ext cx="1115602" cy="1341489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79998" y="441324"/>
                <a:ext cx="2749140" cy="1189423"/>
              </a:xfrm>
              <a:prstGeom prst="rect">
                <a:avLst/>
              </a:prstGeom>
            </p:spPr>
          </p:pic>
        </p:grpSp>
        <p:sp>
          <p:nvSpPr>
            <p:cNvPr id="2" name="Rectangle 1"/>
            <p:cNvSpPr/>
            <p:nvPr/>
          </p:nvSpPr>
          <p:spPr>
            <a:xfrm>
              <a:off x="1145554" y="4663557"/>
              <a:ext cx="123623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smtClean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2. </a:t>
              </a:r>
              <a:r>
                <a:rPr lang="en-US" b="1" dirty="0" err="1" smtClean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Butirex</a:t>
              </a:r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231345" y="230018"/>
            <a:ext cx="3124693" cy="4775714"/>
            <a:chOff x="3525052" y="257175"/>
            <a:chExt cx="3124693" cy="4775714"/>
          </a:xfrm>
        </p:grpSpPr>
        <p:grpSp>
          <p:nvGrpSpPr>
            <p:cNvPr id="15" name="Group 14"/>
            <p:cNvGrpSpPr/>
            <p:nvPr/>
          </p:nvGrpSpPr>
          <p:grpSpPr>
            <a:xfrm>
              <a:off x="3525052" y="257175"/>
              <a:ext cx="3124693" cy="4086225"/>
              <a:chOff x="536478" y="241935"/>
              <a:chExt cx="3509231" cy="4398380"/>
            </a:xfrm>
          </p:grpSpPr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" t="3992" r="-2340" b="7796"/>
              <a:stretch/>
            </p:blipFill>
            <p:spPr>
              <a:xfrm>
                <a:off x="536478" y="241935"/>
                <a:ext cx="3509231" cy="4398380"/>
              </a:xfrm>
              <a:prstGeom prst="rect">
                <a:avLst/>
              </a:prstGeom>
            </p:spPr>
          </p:pic>
          <p:pic>
            <p:nvPicPr>
              <p:cNvPr id="14" name="Picture 13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65961" y="549681"/>
                <a:ext cx="1731090" cy="896938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5287" y="3780245"/>
                <a:ext cx="947806" cy="709614"/>
              </a:xfrm>
              <a:prstGeom prst="rect">
                <a:avLst/>
              </a:prstGeom>
            </p:spPr>
          </p:pic>
        </p:grpSp>
        <p:sp>
          <p:nvSpPr>
            <p:cNvPr id="3" name="Rectangle 2"/>
            <p:cNvSpPr/>
            <p:nvPr/>
          </p:nvSpPr>
          <p:spPr>
            <a:xfrm>
              <a:off x="4115144" y="4663557"/>
              <a:ext cx="164660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r>
                <a:rPr lang="en-US" b="1" dirty="0" smtClean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</a:t>
              </a:r>
              <a:r>
                <a:rPr lang="en-US" b="1" dirty="0" err="1" smtClean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Kingbrown</a:t>
              </a:r>
              <a:endParaRPr lang="en-US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14385" y="1475651"/>
            <a:ext cx="1943100" cy="3569681"/>
            <a:chOff x="6728026" y="1458446"/>
            <a:chExt cx="1943100" cy="3569681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96" r="16004"/>
            <a:stretch/>
          </p:blipFill>
          <p:spPr>
            <a:xfrm>
              <a:off x="6728026" y="1458446"/>
              <a:ext cx="1943100" cy="2824319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6780093" y="4658795"/>
              <a:ext cx="183896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smtClean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1. </a:t>
              </a:r>
              <a:r>
                <a:rPr lang="en-US" b="1" dirty="0" err="1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Globacid</a:t>
              </a:r>
              <a:r>
                <a:rPr lang="en-US" b="1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b="1" dirty="0" err="1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Dw</a:t>
              </a:r>
              <a:endParaRPr lang="en-US" dirty="0"/>
            </a:p>
          </p:txBody>
        </p:sp>
      </p:grpSp>
      <p:sp>
        <p:nvSpPr>
          <p:cNvPr id="21" name="Title 3"/>
          <p:cNvSpPr txBox="1">
            <a:spLocks/>
          </p:cNvSpPr>
          <p:nvPr/>
        </p:nvSpPr>
        <p:spPr>
          <a:xfrm>
            <a:off x="6196348" y="6467978"/>
            <a:ext cx="5995652" cy="390022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i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400" b="1" i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 TNHH </a:t>
            </a:r>
            <a:r>
              <a:rPr lang="en-US" sz="1400" b="1" i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Thương</a:t>
            </a:r>
            <a:r>
              <a:rPr lang="en-US" sz="1400" b="1" i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i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Mại</a:t>
            </a:r>
            <a:r>
              <a:rPr lang="en-US" sz="1400" b="1" i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i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1400" b="1" i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i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r>
              <a:rPr lang="en-US" sz="1400" b="1" i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i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Agritec</a:t>
            </a:r>
            <a:r>
              <a:rPr lang="en-US" sz="1400" b="1" i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400" b="1" i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Liên</a:t>
            </a:r>
            <a:r>
              <a:rPr lang="en-US" sz="1400" b="1" i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i="1" dirty="0" err="1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1400" b="1" i="1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0977791412</a:t>
            </a:r>
            <a:endParaRPr lang="en-US" sz="1400" i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5" y="88768"/>
            <a:ext cx="1857143" cy="9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492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180</Words>
  <Application>Microsoft Office PowerPoint</Application>
  <PresentationFormat>Widescreen</PresentationFormat>
  <Paragraphs>14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 Globacid dw (Pháp) + Mixtron (Ý): Hỗn Hợp Acid hữu cơ acid hoá nước uống về pH 3.5-4.5 liều từ 0.4l/1000lit   Giải pháp an toàn bền vững để xử lý nước uống chăn nuôi cho môi trường nước cứng, phèn, nhiễm bẩn:   + Sát trùng nước và đường nước uống, khắc chế vi khuẩn, virus gây bệnh không đặc hiệu + Hỗ trợ tăng trọng: Cân bằng hệ vi sinh, cải thiện tiêu hoá hấp thu + Giảm mùi hôi trang trại.</vt:lpstr>
      <vt:lpstr> Butirex (Tây Ban Nha) + Mixtron (Ý): Giải pháp cung cấp Butiric tan hoàn toàn không mùi 350-500g/1000 lit, 0.5-1kg/tấn thức ăn.  Dùng hằng ngày cho tất cả môi trường nước cứng, phèn, đặc biệt  nơi nước pH thấp và đặc biệt nên dùng 5 ngày trước và trong khi điều trị bằng kháng sinh, làm vaccine.  + Kích thích tăng trưởng, tăng độ đồng đều đàn vật nuôi + Hỗ trợ các vấn đề về đường ruột (tiêu chảy phân lỏng, phân không thành khuôn...), đặc biệt khắc chế vi khuẩn Clostridium Perfringens + Tăng miễn dịch đường ruột, giảm mùi hôi trang trại.</vt:lpstr>
      <vt:lpstr>  Kingbrown (Pháp) + Mixtron (Ý): Giải pháp tannin thuỷ phân hoàn toàn phòng không kháng dinh dưỡng và điều trị tất cả trường hợp tiêu chảy không đặc hiệu 0.2-0.5kg/1000lit, 0.5-1kg/tấn thức ăn + Kiểm soát tiêu chảy không đặc hiệu do tất cả nguyên nhân : Vi khuẩn, virus, độc tố: nấm mốc, rong tảo, hoá chất, chất bị oxi hoá, do nước: bẩn, phèn, cứng…, ký sinh trùng đặc biệt cầu trùng, tiêu chảy do stress  + Chống viêm nhiễm và stress nhiệt ,cân bằng vi sinh đường ruột: Thành phần chính  Ellagitannin tạo ra Urolithin A Chống oxi hoá nội bào&gt;1.8 lần VTM C  + Hạn chế ẩm chuồng, bệnh sâu chân tăng năng suất vật nuôi, giảm mùi hôi trang trại.</vt:lpstr>
      <vt:lpstr>Giải pháp: Kiểm soát tiêu chảy không đặc hiệu + Hỗ trợ tăng năng suất trên đàn vật nuôi Sử dụng: Có thể pha vào bồn nước hoặc kết hợp sử dụng máy pha Mixtron 1-5%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Globacid dw (Pháp) + Mixtron (Ý) giải pháp xử lý nước uống chăn nuôi cho môi trường nước cứng, phèn, nhiễm bẩn:Acid hoá đường nước uống pH 3.5-4.5. Giúp:   + Sát trùng nước và đường nước uống, khắc chế vi khuẩn, virus gây bệnh + Cải thiệu tiêu hoá hấp thu, hỗ trợ tăng trọng</dc:title>
  <dc:creator>Admin</dc:creator>
  <cp:lastModifiedBy>Admin</cp:lastModifiedBy>
  <cp:revision>22</cp:revision>
  <dcterms:created xsi:type="dcterms:W3CDTF">2025-12-06T04:31:35Z</dcterms:created>
  <dcterms:modified xsi:type="dcterms:W3CDTF">2025-12-07T09:58:26Z</dcterms:modified>
</cp:coreProperties>
</file>